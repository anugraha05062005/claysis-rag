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  <p:sldId id="276" r:id="rId12"/>
    <p:sldId id="283" r:id="rId13"/>
    <p:sldId id="284" r:id="rId14"/>
    <p:sldId id="28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  <p14:sldId id="283"/>
          </p14:sldIdLst>
        </p14:section>
        <p14:section name="Learn More" id="{2CC34DB2-6590-42C0-AD4B-A04C6060184E}">
          <p14:sldIdLst>
            <p14:sldId id="284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64D41-7158-4A02-A1D8-0034048B348E}" v="2" dt="2023-12-09T05:34:43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41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12/9/2023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900" y="-885824"/>
            <a:ext cx="12220575" cy="5010150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itka Small Semibold" pitchFamily="2" charset="0"/>
              </a:rPr>
              <a:t>Graphical </a:t>
            </a:r>
            <a:r>
              <a:rPr lang="en-IN" sz="4800" dirty="0">
                <a:solidFill>
                  <a:schemeClr val="bg1"/>
                </a:solidFill>
                <a:latin typeface="Sitka Small Semibold" pitchFamily="2" charset="0"/>
              </a:rPr>
              <a:t>Password</a:t>
            </a:r>
            <a:br>
              <a:rPr lang="en-IN" sz="4800" dirty="0">
                <a:solidFill>
                  <a:schemeClr val="bg1"/>
                </a:solidFill>
                <a:latin typeface="Sitka Small Semibold" pitchFamily="2" charset="0"/>
              </a:rPr>
            </a:br>
            <a:r>
              <a:rPr lang="en-IN" sz="4800" dirty="0">
                <a:solidFill>
                  <a:schemeClr val="bg1"/>
                </a:solidFill>
                <a:latin typeface="Sitka Small Semibold" pitchFamily="2" charset="0"/>
              </a:rPr>
              <a:t>     Authentication   </a:t>
            </a:r>
            <a:br>
              <a:rPr lang="en-IN" sz="4800" dirty="0"/>
            </a:br>
            <a:r>
              <a:rPr lang="en-IN" sz="4800" dirty="0">
                <a:solidFill>
                  <a:schemeClr val="bg1"/>
                </a:solidFill>
                <a:latin typeface="Sitka Small Semibold" pitchFamily="2" charset="0"/>
              </a:rPr>
              <a:t>                                      </a:t>
            </a:r>
            <a:r>
              <a:rPr lang="en-US" sz="4800" dirty="0">
                <a:solidFill>
                  <a:schemeClr val="bg1"/>
                </a:solidFill>
                <a:latin typeface="Sitka Small Semibold" pitchFamily="2" charset="0"/>
              </a:rPr>
              <a:t>           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489241" y="5259737"/>
            <a:ext cx="822960" cy="82296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C6A86A-66A0-3A66-2732-A0EF8E05F969}"/>
              </a:ext>
            </a:extLst>
          </p:cNvPr>
          <p:cNvSpPr txBox="1"/>
          <p:nvPr/>
        </p:nvSpPr>
        <p:spPr>
          <a:xfrm>
            <a:off x="5869858" y="5259737"/>
            <a:ext cx="76849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Sitka Small Semibold" pitchFamily="2" charset="0"/>
              </a:rPr>
              <a:t>   BY~         </a:t>
            </a:r>
          </a:p>
          <a:p>
            <a:r>
              <a:rPr lang="en-IN" sz="3600" dirty="0">
                <a:solidFill>
                  <a:schemeClr val="bg1"/>
                </a:solidFill>
                <a:latin typeface="Sitka Small Semibold" pitchFamily="2" charset="0"/>
              </a:rPr>
              <a:t>        _.ELITE CYBERS._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OUTLINE </a:t>
            </a:r>
            <a:endParaRPr lang="en-US" dirty="0">
              <a:latin typeface="Rockwell Extra Bold" panose="02060903040505020403" pitchFamily="18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615820" y="1268963"/>
            <a:ext cx="4665305" cy="420392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1.</a:t>
            </a: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INTRODUCATION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2.OVERVIEW OF THE AUTHENTICATION METHODS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3.TEXT PASSWORD AND DRAWBACKS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4.GRAPICAL PASSWORDS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5.THE SURVEY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*Recall Based Techniques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*Recognition Based Techniques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6.</a:t>
            </a:r>
            <a:r>
              <a:rPr lang="en-IN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DISCUSSION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*Advantages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*</a:t>
            </a:r>
            <a:r>
              <a:rPr lang="en-IN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disadvantages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IN" sz="72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7.CONCLUSION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1552" y="476810"/>
            <a:ext cx="6166685" cy="640080"/>
          </a:xfrm>
        </p:spPr>
        <p:txBody>
          <a:bodyPr/>
          <a:lstStyle/>
          <a:p>
            <a:r>
              <a:rPr lang="en-IN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INTRODUCTION </a:t>
            </a:r>
            <a:endParaRPr lang="en-US" dirty="0">
              <a:latin typeface="Rockwell Extra Bold" panose="02060903040505020403" pitchFamily="18" charset="0"/>
              <a:cs typeface="Segoe UI Light" panose="020B0502040204020203" pitchFamily="34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31552" y="1345619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800" dirty="0">
                <a:latin typeface="Rockwell Extra Bold" panose="02060903040505020403" pitchFamily="18" charset="0"/>
                <a:cs typeface="Segoe UI" panose="020B0502040204020203" pitchFamily="34" charset="0"/>
              </a:rPr>
              <a:t>WHAT</a:t>
            </a:r>
            <a:r>
              <a:rPr lang="en-US" sz="1600" dirty="0">
                <a:latin typeface="Rockwell Extra Bold" panose="02060903040505020403" pitchFamily="18" charset="0"/>
                <a:cs typeface="Segoe UI" panose="020B0502040204020203" pitchFamily="34" charset="0"/>
              </a:rPr>
              <a:t> IS </a:t>
            </a:r>
            <a:r>
              <a:rPr lang="en-IN" sz="1600" dirty="0">
                <a:latin typeface="Rockwell Extra Bold" panose="02060903040505020403" pitchFamily="18" charset="0"/>
                <a:cs typeface="Segoe UI" panose="020B0502040204020203" pitchFamily="34" charset="0"/>
              </a:rPr>
              <a:t>PASSWORD: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The term PASSWORD commonly refers to a secret used for authentication.</a:t>
            </a:r>
            <a:r>
              <a:rPr lang="en-IN" sz="18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Password</a:t>
            </a:r>
            <a:r>
              <a:rPr lang="en-US" sz="18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 are the most commonly used method for </a:t>
            </a:r>
            <a:r>
              <a:rPr lang="en-IN" sz="1800" dirty="0">
                <a:latin typeface="MS PGothic" panose="020B0600070205080204" pitchFamily="34" charset="-128"/>
                <a:ea typeface="MS PGothic" panose="020B0600070205080204" pitchFamily="34" charset="-128"/>
                <a:cs typeface="Segoe UI" panose="020B0502040204020203" pitchFamily="34" charset="0"/>
              </a:rPr>
              <a:t>identifying users in computers and communication systems.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1800" dirty="0">
                <a:latin typeface="Rockwell Extra Bold" panose="02060903040505020403" pitchFamily="18" charset="0"/>
                <a:ea typeface="MS PGothic" panose="020B0600070205080204" pitchFamily="34" charset="-128"/>
                <a:cs typeface="Segoe UI" panose="020B0502040204020203" pitchFamily="34" charset="0"/>
              </a:rPr>
              <a:t>Password are used for: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1800" dirty="0">
                <a:latin typeface="Poor Richard" panose="02080502050505020702" pitchFamily="18" charset="0"/>
                <a:ea typeface="MS PGothic" panose="020B0600070205080204" pitchFamily="34" charset="-128"/>
                <a:cs typeface="Segoe UI" panose="020B0502040204020203" pitchFamily="34" charset="0"/>
              </a:rPr>
              <a:t>1.Logging into accounts </a:t>
            </a:r>
            <a:endParaRPr lang="en-US" sz="1800" dirty="0">
              <a:latin typeface="Poor Richard" panose="02080502050505020702" pitchFamily="18" charset="0"/>
              <a:ea typeface="MS PGothic" panose="020B0600070205080204" pitchFamily="34" charset="-128"/>
              <a:cs typeface="Segoe UI" panose="020B0502040204020203" pitchFamily="34" charset="0"/>
            </a:endParaRPr>
          </a:p>
          <a:p>
            <a:pPr marL="0" indent="0">
              <a:spcAft>
                <a:spcPts val="2000"/>
              </a:spcAft>
              <a:buNone/>
            </a:pPr>
            <a:r>
              <a:rPr lang="en-IN" sz="1800" dirty="0">
                <a:latin typeface="Poor Richard" panose="02080502050505020702" pitchFamily="18" charset="0"/>
                <a:ea typeface="MS PGothic" panose="020B0600070205080204" pitchFamily="34" charset="-128"/>
                <a:cs typeface="Segoe UI" panose="020B0502040204020203" pitchFamily="34" charset="0"/>
              </a:rPr>
              <a:t>2.Databases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1800" dirty="0">
                <a:latin typeface="Poor Richard" panose="02080502050505020702" pitchFamily="18" charset="0"/>
                <a:ea typeface="MS PGothic" panose="020B0600070205080204" pitchFamily="34" charset="-128"/>
                <a:cs typeface="Segoe UI" panose="020B0502040204020203" pitchFamily="34" charset="0"/>
              </a:rPr>
              <a:t>3.Networks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1800" dirty="0">
                <a:latin typeface="Poor Richard" panose="02080502050505020702" pitchFamily="18" charset="0"/>
                <a:ea typeface="MS PGothic" panose="020B0600070205080204" pitchFamily="34" charset="-128"/>
                <a:cs typeface="Segoe UI" panose="020B0502040204020203" pitchFamily="34" charset="0"/>
              </a:rPr>
              <a:t>4.Workstations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1800" dirty="0">
                <a:latin typeface="Poor Richard" panose="02080502050505020702" pitchFamily="18" charset="0"/>
                <a:ea typeface="MS PGothic" panose="020B0600070205080204" pitchFamily="34" charset="-128"/>
                <a:cs typeface="Segoe UI" panose="020B0502040204020203" pitchFamily="34" charset="0"/>
              </a:rPr>
              <a:t>5.Retriving emails  etc…</a:t>
            </a:r>
          </a:p>
          <a:p>
            <a:pPr marL="0" indent="0">
              <a:spcAft>
                <a:spcPts val="2000"/>
              </a:spcAft>
              <a:buNone/>
            </a:pPr>
            <a:endParaRPr lang="en-IN" sz="1800" dirty="0">
              <a:latin typeface="Poor Richard" panose="02080502050505020702" pitchFamily="18" charset="0"/>
              <a:ea typeface="MS PGothic" panose="020B0600070205080204" pitchFamily="34" charset="-128"/>
              <a:cs typeface="Segoe UI" panose="020B0502040204020203" pitchFamily="34" charset="0"/>
            </a:endParaRPr>
          </a:p>
        </p:txBody>
      </p: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39628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36" name="Content Placeholder 17"/>
          <p:cNvSpPr txBox="1">
            <a:spLocks/>
          </p:cNvSpPr>
          <p:nvPr/>
        </p:nvSpPr>
        <p:spPr>
          <a:xfrm>
            <a:off x="1056513" y="284445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Content Placeholder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40" name="Content Placeholder 17"/>
          <p:cNvSpPr txBox="1">
            <a:spLocks/>
          </p:cNvSpPr>
          <p:nvPr/>
        </p:nvSpPr>
        <p:spPr>
          <a:xfrm>
            <a:off x="2126985" y="4990763"/>
            <a:ext cx="4504252" cy="56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52956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Sitka Small Semibold" pitchFamily="2" charset="0"/>
                <a:cs typeface="Segoe UI Light" panose="020B0502040204020203" pitchFamily="34" charset="0"/>
              </a:rPr>
              <a:t>Overview of the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Sitka Small Semibold" pitchFamily="2" charset="0"/>
                <a:cs typeface="Segoe UI Light" panose="020B0502040204020203" pitchFamily="34" charset="0"/>
              </a:rPr>
              <a:t>authentication</a:t>
            </a:r>
            <a:r>
              <a:rPr lang="en-IN" dirty="0">
                <a:latin typeface="Sitka Small Semibold" pitchFamily="2" charset="0"/>
                <a:cs typeface="Segoe UI Light" panose="020B0502040204020203" pitchFamily="34" charset="0"/>
              </a:rPr>
              <a:t> methods:</a:t>
            </a:r>
            <a:endParaRPr lang="en-US" dirty="0">
              <a:latin typeface="Sitka Small Semibold" pitchFamily="2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21207" y="1436915"/>
            <a:ext cx="11272687" cy="562635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*Token based authentication  </a:t>
            </a:r>
            <a:r>
              <a:rPr lang="en-I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methods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 key cards , bank cards , smart cards,..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*Biometric based authentication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</a:t>
            </a:r>
            <a:r>
              <a:rPr lang="en-I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Fingerprints , iris scan , facial recognition ,…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I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*Knowledge based authentication 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I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 Text-based passwords , picture-based password , …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IN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  Most widely used authentication techniques</a:t>
            </a: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TEXT PASSWORD:</a:t>
            </a:r>
          </a:p>
        </p:txBody>
      </p:sp>
      <p:sp>
        <p:nvSpPr>
          <p:cNvPr id="30" name="Content Placeholder 17"/>
          <p:cNvSpPr txBox="1">
            <a:spLocks/>
          </p:cNvSpPr>
          <p:nvPr/>
        </p:nvSpPr>
        <p:spPr>
          <a:xfrm>
            <a:off x="521207" y="1365315"/>
            <a:ext cx="5110161" cy="478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36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Text </a:t>
            </a:r>
            <a:r>
              <a:rPr lang="en-IN" sz="36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password is a secret word or string of characters  that is used for users authentication to prove his identity and gain access to resources</a:t>
            </a:r>
            <a:endParaRPr lang="en-US" sz="36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521207" y="2515006"/>
            <a:ext cx="5973283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Rockwell Extra Bold" panose="02060903040505020403" pitchFamily="18" charset="0"/>
                <a:cs typeface="Segoe UI" panose="020B0502040204020203" pitchFamily="34" charset="0"/>
              </a:rPr>
              <a:t>Drawback: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21207" y="3208080"/>
            <a:ext cx="8165589" cy="3649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Difficulty of remembering password.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easy to remember-easy to guess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hard to guess-hard to remember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Vulnerable to </a:t>
            </a:r>
            <a:r>
              <a:rPr lang="en-IN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attacks like dictionary attack , brute force attack.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Many solutions have been proposed . Graphical password is one of the solutions </a:t>
            </a:r>
            <a:endParaRPr lang="en-US" sz="36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17" name="Content Placeholder 17"/>
          <p:cNvSpPr txBox="1">
            <a:spLocks/>
          </p:cNvSpPr>
          <p:nvPr/>
        </p:nvSpPr>
        <p:spPr>
          <a:xfrm>
            <a:off x="628962" y="5832234"/>
            <a:ext cx="3449878" cy="692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2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2192000" y="1198362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31A99E-2659-241B-94CF-6E3F62D856CA}"/>
              </a:ext>
            </a:extLst>
          </p:cNvPr>
          <p:cNvCxnSpPr/>
          <p:nvPr/>
        </p:nvCxnSpPr>
        <p:spPr>
          <a:xfrm flipV="1">
            <a:off x="586979" y="2856485"/>
            <a:ext cx="6811347" cy="54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9FDDBCB-9620-C1BF-B635-2C181FA8BDFA}"/>
              </a:ext>
            </a:extLst>
          </p:cNvPr>
          <p:cNvSpPr/>
          <p:nvPr/>
        </p:nvSpPr>
        <p:spPr>
          <a:xfrm>
            <a:off x="553010" y="2851161"/>
            <a:ext cx="6877119" cy="4571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Graphical </a:t>
            </a:r>
            <a:r>
              <a:rPr lang="en-IN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password:</a:t>
            </a:r>
            <a:endParaRPr lang="en-US" dirty="0">
              <a:latin typeface="Rockwell Extra Bold" panose="02060903040505020403" pitchFamily="18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11373581" cy="59961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*Graphical password were </a:t>
            </a: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originally described by BLONDER in 1996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*A graphical password is an authentication system that works by having the user select from images </a:t>
            </a: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,in a </a:t>
            </a: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specific order , presented in a graphical user interface (GUI)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*For this reason , the graphical-password approach is sometimes called graphical user authentication(GUA)</a:t>
            </a:r>
          </a:p>
          <a:p>
            <a:pPr>
              <a:lnSpc>
                <a:spcPts val="1800"/>
              </a:lnSpc>
              <a:spcAft>
                <a:spcPts val="2000"/>
              </a:spcAft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Rockwell Extra Bold" panose="02060903040505020403" pitchFamily="18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Use of graphical password:  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         Web log-in application 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         ATM machine </a:t>
            </a:r>
          </a:p>
          <a:p>
            <a:pPr marL="0" indent="0">
              <a:lnSpc>
                <a:spcPts val="1800"/>
              </a:lnSpc>
              <a:spcBef>
                <a:spcPts val="1000"/>
              </a:spcBef>
              <a:spcAft>
                <a:spcPts val="2000"/>
              </a:spcAft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          Mobile device </a:t>
            </a:r>
          </a:p>
        </p:txBody>
      </p:sp>
      <p:sp>
        <p:nvSpPr>
          <p:cNvPr id="42" name="Content Placeholder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Content Placeholder 17"/>
          <p:cNvSpPr txBox="1">
            <a:spLocks/>
          </p:cNvSpPr>
          <p:nvPr/>
        </p:nvSpPr>
        <p:spPr>
          <a:xfrm>
            <a:off x="7974064" y="4655738"/>
            <a:ext cx="2658635" cy="69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The Survey : Two Categories  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17"/>
          <p:cNvSpPr txBox="1">
            <a:spLocks/>
          </p:cNvSpPr>
          <p:nvPr/>
        </p:nvSpPr>
        <p:spPr>
          <a:xfrm>
            <a:off x="1066039" y="2678694"/>
            <a:ext cx="3121671" cy="46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ontent Placeholder 17"/>
          <p:cNvSpPr txBox="1">
            <a:spLocks/>
          </p:cNvSpPr>
          <p:nvPr/>
        </p:nvSpPr>
        <p:spPr>
          <a:xfrm>
            <a:off x="648174" y="1500519"/>
            <a:ext cx="10895652" cy="6560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>
              <a:buNone/>
            </a:pPr>
            <a:r>
              <a:rPr lang="en-US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*Recall Based </a:t>
            </a:r>
            <a:r>
              <a:rPr lang="en-IN" sz="48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Techniques</a:t>
            </a:r>
          </a:p>
          <a:p>
            <a:pPr marL="0" indent="0"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A user is  asked to  reproduce something that he had created or selected earlier during the registration stage </a:t>
            </a:r>
          </a:p>
          <a:p>
            <a:pPr marL="0" indent="0">
              <a:buNone/>
            </a:pPr>
            <a:r>
              <a:rPr lang="en-I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*Recognition Based Techniques</a:t>
            </a:r>
          </a:p>
          <a:p>
            <a:pPr marL="0" indent="0">
              <a:buNone/>
            </a:pPr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  A user is presented with a set of images  and the user passes the authentication by recognizing and identifying the images he selected during the registration stage </a:t>
            </a:r>
          </a:p>
          <a:p>
            <a:pPr marL="0" indent="0">
              <a:buNone/>
            </a:pPr>
            <a:r>
              <a:rPr lang="en-I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</a:t>
            </a:r>
            <a:endParaRPr lang="en-US" sz="44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  <p:sp>
        <p:nvSpPr>
          <p:cNvPr id="34" name="Content Placeholder 17"/>
          <p:cNvSpPr txBox="1">
            <a:spLocks/>
          </p:cNvSpPr>
          <p:nvPr/>
        </p:nvSpPr>
        <p:spPr>
          <a:xfrm>
            <a:off x="1066039" y="3750979"/>
            <a:ext cx="2134038" cy="144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512763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Box 16" descr="Select me"/>
          <p:cNvSpPr txBox="1"/>
          <p:nvPr/>
        </p:nvSpPr>
        <p:spPr>
          <a:xfrm rot="21077122">
            <a:off x="6043297" y="1772253"/>
            <a:ext cx="1334770" cy="435610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/>
            </a:ext>
          </a:extLst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200"/>
              </a:spcAft>
              <a:tabLst>
                <a:tab pos="4931410" algn="l"/>
              </a:tabLst>
            </a:pPr>
            <a:endParaRPr lang="en-US" sz="1200" b="1" kern="1400" dirty="0">
              <a:solidFill>
                <a:srgbClr val="D24726"/>
              </a:solidFill>
              <a:effectLst/>
              <a:latin typeface="Segoe UI Light" panose="020B0502040204020203" pitchFamily="34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5"/>
            <a:ext cx="6877119" cy="662287"/>
          </a:xfrm>
        </p:spPr>
        <p:txBody>
          <a:bodyPr/>
          <a:lstStyle/>
          <a:p>
            <a:r>
              <a:rPr lang="en-IN" sz="3600" dirty="0">
                <a:latin typeface="Rockwell Extra Bold" panose="02060903040505020403" pitchFamily="18" charset="0"/>
                <a:cs typeface="Segoe UI Light" panose="020B0502040204020203" pitchFamily="34" charset="0"/>
              </a:rPr>
              <a:t>DISCUSSION </a:t>
            </a:r>
            <a:r>
              <a:rPr lang="en-IN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Content Placeholder 17"/>
          <p:cNvSpPr txBox="1">
            <a:spLocks/>
          </p:cNvSpPr>
          <p:nvPr/>
        </p:nvSpPr>
        <p:spPr>
          <a:xfrm>
            <a:off x="1066038" y="5273573"/>
            <a:ext cx="2919669" cy="129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5273573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srgbClr val="D2472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Content Placeholder 17"/>
          <p:cNvSpPr txBox="1">
            <a:spLocks/>
          </p:cNvSpPr>
          <p:nvPr/>
        </p:nvSpPr>
        <p:spPr>
          <a:xfrm>
            <a:off x="521207" y="1474237"/>
            <a:ext cx="11541534" cy="5383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IN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Advantages of graphical password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*Graphical password schemes provide a way of making more human-friendly password.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*Here the security of the system is very high.</a:t>
            </a:r>
          </a:p>
          <a:p>
            <a:pPr marL="0" indent="0">
              <a:spcAft>
                <a:spcPts val="2000"/>
              </a:spcAft>
              <a:buNone/>
            </a:pPr>
            <a:r>
              <a:rPr lang="en-IN" sz="4000" dirty="0">
                <a:solidFill>
                  <a:prstClr val="black">
                    <a:lumMod val="75000"/>
                    <a:lumOff val="25000"/>
                  </a:prstClr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*Dictionary attacks and brute force search are infeasible.</a:t>
            </a:r>
          </a:p>
          <a:p>
            <a:pPr marL="0" indent="0">
              <a:spcAft>
                <a:spcPts val="2000"/>
              </a:spcAft>
              <a:buNone/>
            </a:pPr>
            <a:endParaRPr lang="en-IN" sz="40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>
              <a:spcAft>
                <a:spcPts val="2000"/>
              </a:spcAft>
              <a:buNone/>
            </a:pPr>
            <a:endParaRPr lang="en-US" sz="4000" dirty="0">
              <a:solidFill>
                <a:prstClr val="black">
                  <a:lumMod val="75000"/>
                  <a:lumOff val="25000"/>
                </a:prstClr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49B4-26B7-1CE0-C44A-FA636A56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C24C9-9F1B-2DFA-696D-B4BC933A6D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3265" y="1931437"/>
            <a:ext cx="9751983" cy="460652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Disadvantages of graphical password:</a:t>
            </a:r>
          </a:p>
          <a:p>
            <a:r>
              <a:rPr lang="en-IN" sz="32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*Password registration and log in process take too long.</a:t>
            </a:r>
          </a:p>
          <a:p>
            <a:r>
              <a:rPr lang="en-IN" sz="32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       *Require much more storage space than text based passwords.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64300-CDAA-6A85-4131-A51E00EB9A51}"/>
              </a:ext>
            </a:extLst>
          </p:cNvPr>
          <p:cNvSpPr txBox="1"/>
          <p:nvPr/>
        </p:nvSpPr>
        <p:spPr>
          <a:xfrm>
            <a:off x="410547" y="1380930"/>
            <a:ext cx="9155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Bodoni MT Black" panose="02070A03080606020203" pitchFamily="18" charset="0"/>
              </a:rPr>
              <a:t>Discussion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4165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29E6-C392-1812-E97C-FCD0C7B2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400" dirty="0">
                <a:latin typeface="Rockwell Extra Bold" panose="02060903040505020403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12407-426F-6AD5-7BE6-893951C065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8908" y="2519265"/>
            <a:ext cx="11702268" cy="3944050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200" dirty="0"/>
              <a:t>*</a:t>
            </a:r>
            <a:r>
              <a:rPr lang="en-IN" sz="32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Graphical password are an alternative to textual alphanumeric password.</a:t>
            </a:r>
          </a:p>
          <a:p>
            <a:r>
              <a:rPr lang="en-IN" sz="32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*It satisfies both conflicting requirements i.e. it is easy to remember and it is hard to guess.</a:t>
            </a:r>
          </a:p>
          <a:p>
            <a:r>
              <a:rPr lang="en-IN" sz="32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*By the solution of the shoulder surfing problem , it becomes more secure and easier password scheme.</a:t>
            </a:r>
          </a:p>
          <a:p>
            <a:r>
              <a:rPr lang="en-IN" sz="32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*Not yet widely used , current graphical password techniques are still immature.</a:t>
            </a:r>
          </a:p>
        </p:txBody>
      </p:sp>
    </p:spTree>
    <p:extLst>
      <p:ext uri="{BB962C8B-B14F-4D97-AF65-F5344CB8AC3E}">
        <p14:creationId xmlns:p14="http://schemas.microsoft.com/office/powerpoint/2010/main" val="10426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752530" y="699796"/>
            <a:ext cx="4644965" cy="1476476"/>
          </a:xfrm>
        </p:spPr>
        <p:txBody>
          <a:bodyPr>
            <a:normAutofit/>
          </a:bodyPr>
          <a:lstStyle/>
          <a:p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2426395" y="2879725"/>
            <a:ext cx="9442648" cy="3978275"/>
          </a:xfrm>
        </p:spPr>
        <p:txBody>
          <a:bodyPr>
            <a:normAutofit/>
          </a:bodyPr>
          <a:lstStyle/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                                              </a:t>
            </a: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r>
              <a:rPr lang="en-IN" sz="7200" dirty="0">
                <a:latin typeface="Algerian" panose="04020705040A02060702" pitchFamily="82" charset="0"/>
                <a:cs typeface="Segoe UI Light" panose="020B0502040204020203" pitchFamily="34" charset="0"/>
              </a:rPr>
              <a:t>Thank you… </a:t>
            </a:r>
            <a:endParaRPr lang="en-US" sz="7200" dirty="0">
              <a:latin typeface="Algerian" panose="04020705040A02060702" pitchFamily="82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230e9df3-be65-4c73-a93b-d1236ebd677e"/>
    <ds:schemaRef ds:uri="http://purl.org/dc/terms/"/>
    <ds:schemaRef ds:uri="16c05727-aa75-4e4a-9b5f-8a80a1165891"/>
    <ds:schemaRef ds:uri="71af3243-3dd4-4a8d-8c0d-dd76da1f02a5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{D257F751-8C3D-4792-9D83-F25295198E37}tf10001108_win32</Template>
  <TotalTime>356</TotalTime>
  <Words>526</Words>
  <Application>Microsoft Office PowerPoint</Application>
  <PresentationFormat>Widescreen</PresentationFormat>
  <Paragraphs>76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MS PGothic</vt:lpstr>
      <vt:lpstr>Algerian</vt:lpstr>
      <vt:lpstr>Arial</vt:lpstr>
      <vt:lpstr>Bodoni MT Black</vt:lpstr>
      <vt:lpstr>Calibri</vt:lpstr>
      <vt:lpstr>Microsoft Himalaya</vt:lpstr>
      <vt:lpstr>Poor Richard</vt:lpstr>
      <vt:lpstr>Rockwell Extra Bold</vt:lpstr>
      <vt:lpstr>Segoe UI</vt:lpstr>
      <vt:lpstr>Segoe UI Light</vt:lpstr>
      <vt:lpstr>Sitka Small Semibold</vt:lpstr>
      <vt:lpstr>Custom</vt:lpstr>
      <vt:lpstr>Graphical Password      Authentication                                                     </vt:lpstr>
      <vt:lpstr>OUTLINE </vt:lpstr>
      <vt:lpstr>INTRODUCTION </vt:lpstr>
      <vt:lpstr>Overview of the authentication methods:</vt:lpstr>
      <vt:lpstr>TEXT PASSWORD:</vt:lpstr>
      <vt:lpstr>Graphical password:</vt:lpstr>
      <vt:lpstr>The Survey : Two Categories  </vt:lpstr>
      <vt:lpstr>DISCUSSION  </vt:lpstr>
      <vt:lpstr>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Password</dc:title>
  <dc:creator>Lenovo</dc:creator>
  <cp:keywords/>
  <cp:lastModifiedBy>MANOJ S</cp:lastModifiedBy>
  <cp:revision>2</cp:revision>
  <dcterms:created xsi:type="dcterms:W3CDTF">2023-12-08T14:50:17Z</dcterms:created>
  <dcterms:modified xsi:type="dcterms:W3CDTF">2023-12-09T05:37:58Z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